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59" r:id="rId6"/>
    <p:sldId id="275" r:id="rId7"/>
    <p:sldId id="269" r:id="rId8"/>
    <p:sldId id="270" r:id="rId9"/>
    <p:sldId id="271" r:id="rId10"/>
    <p:sldId id="272" r:id="rId11"/>
    <p:sldId id="273" r:id="rId12"/>
    <p:sldId id="274" r:id="rId13"/>
    <p:sldId id="264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amuka Mohanty" userId="de72a6df0cff6059" providerId="LiveId" clId="{F049E3EC-33CD-420B-BCFD-67B5BFE57956}"/>
    <pc:docChg chg="addSld modSld">
      <pc:chgData name="Dr. Samuka Mohanty" userId="de72a6df0cff6059" providerId="LiveId" clId="{F049E3EC-33CD-420B-BCFD-67B5BFE57956}" dt="2026-05-03T04:19:10.067" v="16" actId="1076"/>
      <pc:docMkLst>
        <pc:docMk/>
      </pc:docMkLst>
      <pc:sldChg chg="modSp add mod">
        <pc:chgData name="Dr. Samuka Mohanty" userId="de72a6df0cff6059" providerId="LiveId" clId="{F049E3EC-33CD-420B-BCFD-67B5BFE57956}" dt="2026-05-03T04:19:10.067" v="16" actId="1076"/>
        <pc:sldMkLst>
          <pc:docMk/>
          <pc:sldMk cId="0" sldId="256"/>
        </pc:sldMkLst>
        <pc:spChg chg="mod">
          <ac:chgData name="Dr. Samuka Mohanty" userId="de72a6df0cff6059" providerId="LiveId" clId="{F049E3EC-33CD-420B-BCFD-67B5BFE57956}" dt="2026-05-03T04:19:10.067" v="16" actId="1076"/>
          <ac:spMkLst>
            <pc:docMk/>
            <pc:sldMk cId="0" sldId="256"/>
            <ac:spMk id="94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7:56.927" v="3" actId="207"/>
        <pc:sldMkLst>
          <pc:docMk/>
          <pc:sldMk cId="0" sldId="257"/>
        </pc:sldMkLst>
        <pc:spChg chg="mod">
          <ac:chgData name="Dr. Samuka Mohanty" userId="de72a6df0cff6059" providerId="LiveId" clId="{F049E3EC-33CD-420B-BCFD-67B5BFE57956}" dt="2026-05-03T04:17:56.927" v="3" actId="207"/>
          <ac:spMkLst>
            <pc:docMk/>
            <pc:sldMk cId="0" sldId="257"/>
            <ac:spMk id="101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06.694" v="4" actId="207"/>
        <pc:sldMkLst>
          <pc:docMk/>
          <pc:sldMk cId="0" sldId="258"/>
        </pc:sldMkLst>
        <pc:spChg chg="mod">
          <ac:chgData name="Dr. Samuka Mohanty" userId="de72a6df0cff6059" providerId="LiveId" clId="{F049E3EC-33CD-420B-BCFD-67B5BFE57956}" dt="2026-05-03T04:18:06.694" v="4" actId="207"/>
          <ac:spMkLst>
            <pc:docMk/>
            <pc:sldMk cId="0" sldId="258"/>
            <ac:spMk id="105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17.510" v="6" actId="207"/>
        <pc:sldMkLst>
          <pc:docMk/>
          <pc:sldMk cId="0" sldId="259"/>
        </pc:sldMkLst>
        <pc:spChg chg="mod">
          <ac:chgData name="Dr. Samuka Mohanty" userId="de72a6df0cff6059" providerId="LiveId" clId="{F049E3EC-33CD-420B-BCFD-67B5BFE57956}" dt="2026-05-03T04:18:17.510" v="6" actId="207"/>
          <ac:spMkLst>
            <pc:docMk/>
            <pc:sldMk cId="0" sldId="259"/>
            <ac:spMk id="109" creationId="{00000000-0000-0000-0000-000000000000}"/>
          </ac:spMkLst>
        </pc:spChg>
      </pc:sldChg>
      <pc:sldChg chg="add">
        <pc:chgData name="Dr. Samuka Mohanty" userId="de72a6df0cff6059" providerId="LiveId" clId="{F049E3EC-33CD-420B-BCFD-67B5BFE57956}" dt="2026-05-03T04:16:36.127" v="0"/>
        <pc:sldMkLst>
          <pc:docMk/>
          <pc:sldMk cId="0" sldId="263"/>
        </pc:sldMkLst>
      </pc:sldChg>
      <pc:sldChg chg="add">
        <pc:chgData name="Dr. Samuka Mohanty" userId="de72a6df0cff6059" providerId="LiveId" clId="{F049E3EC-33CD-420B-BCFD-67B5BFE57956}" dt="2026-05-03T04:16:36.127" v="0"/>
        <pc:sldMkLst>
          <pc:docMk/>
          <pc:sldMk cId="0" sldId="264"/>
        </pc:sldMkLst>
      </pc:sldChg>
      <pc:sldChg chg="modSp add mod">
        <pc:chgData name="Dr. Samuka Mohanty" userId="de72a6df0cff6059" providerId="LiveId" clId="{F049E3EC-33CD-420B-BCFD-67B5BFE57956}" dt="2026-05-03T04:18:11.430" v="5" actId="207"/>
        <pc:sldMkLst>
          <pc:docMk/>
          <pc:sldMk cId="1481454852" sldId="265"/>
        </pc:sldMkLst>
        <pc:spChg chg="mod">
          <ac:chgData name="Dr. Samuka Mohanty" userId="de72a6df0cff6059" providerId="LiveId" clId="{F049E3EC-33CD-420B-BCFD-67B5BFE57956}" dt="2026-05-03T04:18:11.430" v="5" actId="207"/>
          <ac:spMkLst>
            <pc:docMk/>
            <pc:sldMk cId="1481454852" sldId="265"/>
            <ac:spMk id="105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23.570" v="7" actId="207"/>
        <pc:sldMkLst>
          <pc:docMk/>
          <pc:sldMk cId="900071537" sldId="267"/>
        </pc:sldMkLst>
        <pc:spChg chg="mod">
          <ac:chgData name="Dr. Samuka Mohanty" userId="de72a6df0cff6059" providerId="LiveId" clId="{F049E3EC-33CD-420B-BCFD-67B5BFE57956}" dt="2026-05-03T04:18:23.570" v="7" actId="207"/>
          <ac:spMkLst>
            <pc:docMk/>
            <pc:sldMk cId="900071537" sldId="267"/>
            <ac:spMk id="109" creationId="{87099D82-27AF-790A-F4C4-8CDA517EDB6D}"/>
          </ac:spMkLst>
        </pc:spChg>
      </pc:sldChg>
      <pc:sldChg chg="modSp add mod">
        <pc:chgData name="Dr. Samuka Mohanty" userId="de72a6df0cff6059" providerId="LiveId" clId="{F049E3EC-33CD-420B-BCFD-67B5BFE57956}" dt="2026-05-03T04:18:31.724" v="9" actId="207"/>
        <pc:sldMkLst>
          <pc:docMk/>
          <pc:sldMk cId="2534295434" sldId="268"/>
        </pc:sldMkLst>
        <pc:spChg chg="mod">
          <ac:chgData name="Dr. Samuka Mohanty" userId="de72a6df0cff6059" providerId="LiveId" clId="{F049E3EC-33CD-420B-BCFD-67B5BFE57956}" dt="2026-05-03T04:18:31.724" v="9" actId="207"/>
          <ac:spMkLst>
            <pc:docMk/>
            <pc:sldMk cId="2534295434" sldId="268"/>
            <ac:spMk id="109" creationId="{C2B8452B-B807-C124-7AEC-AE5ED6AE1FBE}"/>
          </ac:spMkLst>
        </pc:spChg>
      </pc:sldChg>
      <pc:sldChg chg="modSp add mod">
        <pc:chgData name="Dr. Samuka Mohanty" userId="de72a6df0cff6059" providerId="LiveId" clId="{F049E3EC-33CD-420B-BCFD-67B5BFE57956}" dt="2026-05-03T04:18:35.564" v="10" actId="207"/>
        <pc:sldMkLst>
          <pc:docMk/>
          <pc:sldMk cId="323131930" sldId="269"/>
        </pc:sldMkLst>
        <pc:spChg chg="mod">
          <ac:chgData name="Dr. Samuka Mohanty" userId="de72a6df0cff6059" providerId="LiveId" clId="{F049E3EC-33CD-420B-BCFD-67B5BFE57956}" dt="2026-05-03T04:18:35.564" v="10" actId="207"/>
          <ac:spMkLst>
            <pc:docMk/>
            <pc:sldMk cId="323131930" sldId="269"/>
            <ac:spMk id="109" creationId="{C9DF74D6-8542-66F4-E5C8-36EC5552BBBE}"/>
          </ac:spMkLst>
        </pc:spChg>
      </pc:sldChg>
      <pc:sldChg chg="modSp add mod">
        <pc:chgData name="Dr. Samuka Mohanty" userId="de72a6df0cff6059" providerId="LiveId" clId="{F049E3EC-33CD-420B-BCFD-67B5BFE57956}" dt="2026-05-03T04:18:41.178" v="11" actId="207"/>
        <pc:sldMkLst>
          <pc:docMk/>
          <pc:sldMk cId="3267501494" sldId="270"/>
        </pc:sldMkLst>
        <pc:spChg chg="mod">
          <ac:chgData name="Dr. Samuka Mohanty" userId="de72a6df0cff6059" providerId="LiveId" clId="{F049E3EC-33CD-420B-BCFD-67B5BFE57956}" dt="2026-05-03T04:18:41.178" v="11" actId="207"/>
          <ac:spMkLst>
            <pc:docMk/>
            <pc:sldMk cId="3267501494" sldId="270"/>
            <ac:spMk id="109" creationId="{AFE7C81F-6E58-2367-107E-6694BBFC4019}"/>
          </ac:spMkLst>
        </pc:spChg>
      </pc:sldChg>
      <pc:sldChg chg="modSp add mod">
        <pc:chgData name="Dr. Samuka Mohanty" userId="de72a6df0cff6059" providerId="LiveId" clId="{F049E3EC-33CD-420B-BCFD-67B5BFE57956}" dt="2026-05-03T04:18:45.878" v="12" actId="207"/>
        <pc:sldMkLst>
          <pc:docMk/>
          <pc:sldMk cId="1393089956" sldId="271"/>
        </pc:sldMkLst>
        <pc:spChg chg="mod">
          <ac:chgData name="Dr. Samuka Mohanty" userId="de72a6df0cff6059" providerId="LiveId" clId="{F049E3EC-33CD-420B-BCFD-67B5BFE57956}" dt="2026-05-03T04:18:45.878" v="12" actId="207"/>
          <ac:spMkLst>
            <pc:docMk/>
            <pc:sldMk cId="1393089956" sldId="271"/>
            <ac:spMk id="109" creationId="{92160046-EB52-CD90-37C0-AFB11476B9CB}"/>
          </ac:spMkLst>
        </pc:spChg>
      </pc:sldChg>
      <pc:sldChg chg="modSp add mod">
        <pc:chgData name="Dr. Samuka Mohanty" userId="de72a6df0cff6059" providerId="LiveId" clId="{F049E3EC-33CD-420B-BCFD-67B5BFE57956}" dt="2026-05-03T04:18:50.138" v="13" actId="207"/>
        <pc:sldMkLst>
          <pc:docMk/>
          <pc:sldMk cId="553369231" sldId="272"/>
        </pc:sldMkLst>
        <pc:spChg chg="mod">
          <ac:chgData name="Dr. Samuka Mohanty" userId="de72a6df0cff6059" providerId="LiveId" clId="{F049E3EC-33CD-420B-BCFD-67B5BFE57956}" dt="2026-05-03T04:18:50.138" v="13" actId="207"/>
          <ac:spMkLst>
            <pc:docMk/>
            <pc:sldMk cId="553369231" sldId="272"/>
            <ac:spMk id="109" creationId="{9538C986-A499-4BC7-0FC4-41C7F2F0E21A}"/>
          </ac:spMkLst>
        </pc:spChg>
      </pc:sldChg>
      <pc:sldChg chg="modSp add mod">
        <pc:chgData name="Dr. Samuka Mohanty" userId="de72a6df0cff6059" providerId="LiveId" clId="{F049E3EC-33CD-420B-BCFD-67B5BFE57956}" dt="2026-05-03T04:18:54.380" v="14" actId="207"/>
        <pc:sldMkLst>
          <pc:docMk/>
          <pc:sldMk cId="362366037" sldId="273"/>
        </pc:sldMkLst>
        <pc:spChg chg="mod">
          <ac:chgData name="Dr. Samuka Mohanty" userId="de72a6df0cff6059" providerId="LiveId" clId="{F049E3EC-33CD-420B-BCFD-67B5BFE57956}" dt="2026-05-03T04:18:54.380" v="14" actId="207"/>
          <ac:spMkLst>
            <pc:docMk/>
            <pc:sldMk cId="362366037" sldId="273"/>
            <ac:spMk id="109" creationId="{92F14393-9A37-2D02-0344-78D9F6E689B1}"/>
          </ac:spMkLst>
        </pc:spChg>
      </pc:sldChg>
      <pc:sldChg chg="modSp add mod">
        <pc:chgData name="Dr. Samuka Mohanty" userId="de72a6df0cff6059" providerId="LiveId" clId="{F049E3EC-33CD-420B-BCFD-67B5BFE57956}" dt="2026-05-03T04:18:59.702" v="15" actId="207"/>
        <pc:sldMkLst>
          <pc:docMk/>
          <pc:sldMk cId="758775182" sldId="274"/>
        </pc:sldMkLst>
        <pc:spChg chg="mod">
          <ac:chgData name="Dr. Samuka Mohanty" userId="de72a6df0cff6059" providerId="LiveId" clId="{F049E3EC-33CD-420B-BCFD-67B5BFE57956}" dt="2026-05-03T04:18:59.702" v="15" actId="207"/>
          <ac:spMkLst>
            <pc:docMk/>
            <pc:sldMk cId="758775182" sldId="274"/>
            <ac:spMk id="109" creationId="{B60AF336-44CE-7247-0B45-79090645D009}"/>
          </ac:spMkLst>
        </pc:spChg>
      </pc:sldChg>
      <pc:sldChg chg="modSp add mod">
        <pc:chgData name="Dr. Samuka Mohanty" userId="de72a6df0cff6059" providerId="LiveId" clId="{F049E3EC-33CD-420B-BCFD-67B5BFE57956}" dt="2026-05-03T04:18:27.572" v="8" actId="207"/>
        <pc:sldMkLst>
          <pc:docMk/>
          <pc:sldMk cId="4017485065" sldId="275"/>
        </pc:sldMkLst>
        <pc:spChg chg="mod">
          <ac:chgData name="Dr. Samuka Mohanty" userId="de72a6df0cff6059" providerId="LiveId" clId="{F049E3EC-33CD-420B-BCFD-67B5BFE57956}" dt="2026-05-03T04:18:27.572" v="8" actId="207"/>
          <ac:spMkLst>
            <pc:docMk/>
            <pc:sldMk cId="4017485065" sldId="275"/>
            <ac:spMk id="109" creationId="{2E241FF9-5D2F-1BC3-DBC2-17F24C9AB9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A9119-8600-41C0-9D23-A09797EEA137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126A5-C552-4B90-A95D-802E5060E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52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60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F860-9A4F-A739-3894-FFFD4D760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36C8E-C388-DF87-EE37-CD35079AF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423D7-4A43-287A-E802-F462B9D6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5850-708A-BC00-73F9-B3A04E9C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5084-8D0D-3938-8EF3-82961716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0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55B-81BD-5F75-AF3E-FC60E43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150F-313F-F850-7761-E9845697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7F43-397F-4BD7-1315-C6BC2BDA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4C40-4095-2F24-F259-46E8E0CC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E44F-992A-8414-6120-C2D6F0ED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75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EFF2-AB84-9BFF-B9FB-75EDBACF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BD665-C9F0-C0CB-FD83-58D82EEB0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7FA41-3586-1383-A515-0E75E29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64F0-E8A3-E4CD-53B1-3FA0B261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41AB-F385-A334-4A9E-5A963AD8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C6F4-BEAA-9993-A83B-44B68672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61B3-E8EC-1D65-A742-3E1E08BB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54131-57F3-1C42-2130-768F959D6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8877-4367-622A-3208-CABE98F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2CD75-9622-2B2D-AA66-D19EAD53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245C-35BB-68C9-BCFA-2C9A5C9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0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DE10-806C-907C-7430-E358ED06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441B-D9A5-0866-46E4-00BF73CB0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710B-6A5A-F6B5-FE2F-5D40AD1C2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7035A-F231-2DE6-25EA-AF87B596F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D18A0-27A2-FED4-A218-7B0A6B157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19596-FD3E-FB50-E40F-65B4892A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5FA87-151F-64E8-FD65-E9D7BF05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FD60A-11FF-FAF5-7B1E-4D87C891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4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0DE5-26B5-86E6-C95A-DBAD3B08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B837F-2029-4213-DFB6-06681D16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3D2DF-E69D-E6E8-8A6D-2DD09036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0085D-05D8-CCF2-E1CC-A458771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9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75B02-6C70-4B9F-9A37-084793F5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6A383-F641-4A35-8BFD-5B852303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A0ED3-8284-6536-B3F0-DD0888D8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8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B58B-2C7D-7E8E-9544-111AB964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196D-020E-D8E7-4736-6A55E1C81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549AA-ED67-A21A-0FC3-E4D8A0890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E3A13-6704-A573-A354-DE5D1129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ECA55-7393-6137-D922-836DB917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702CF-081A-2904-FF4D-1D356B31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B1B1-04FA-BA97-ECF3-61DC65F6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9CD45-DF68-C3A7-BD38-85F9475A8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FBEC8-520C-F3D8-32A4-F28A1F786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23C3C-D233-ADAB-3F5E-E6454E21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CA25-313A-AF8C-21AA-138D164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E6AF0-DC1A-B8F8-6270-A0E813ED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C084-6F32-171F-D9C3-7CA541F0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6EB3-00FF-1C3A-C216-0C897611D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BBC5-EF81-5A65-FB85-4B780ED4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3B67-C9BE-100D-FFDF-EFAB37A6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E983-F95C-E165-8104-5A0DEA8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7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A19F7-6182-36C3-E8A3-4EB194F83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48814-E165-CD1C-29F0-6E790C73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7670-9EAD-345D-E528-1DC2E201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1160-5BD2-9A1A-672F-408A7CA5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EA2FB-723E-4243-EE93-2068E73D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9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7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0000" y="1907933"/>
            <a:ext cx="10272000" cy="42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92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C6CFD-5814-9ED2-2B86-FB0EFC19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C0D5-8BE2-6BE9-7867-7896523C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8E352-CF57-5519-65F6-A40208BAD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9AC0-57E6-4806-9FC7-7423DB7F4C3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5BFA5-9814-9D77-9580-804B22957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68CBE-BD77-44C6-20FA-5A465825A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7360" y="335001"/>
            <a:ext cx="11666291" cy="201600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733" b="1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Senior Design Project </a:t>
            </a:r>
            <a:r>
              <a:rPr lang="en-US" sz="3733" b="1" cap="all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</a:t>
            </a:r>
            <a:r>
              <a:rPr lang="en-US" sz="3733" b="1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eview</a:t>
            </a:r>
            <a:br>
              <a:rPr sz="1467" dirty="0">
                <a:latin typeface="Bebas Neue"/>
              </a:rPr>
            </a:br>
            <a:r>
              <a:rPr lang="en-US" sz="1467" dirty="0">
                <a:latin typeface="Bebas Neue"/>
              </a:rPr>
              <a:t>			</a:t>
            </a:r>
          </a:p>
          <a:p>
            <a:pPr algn="ctr">
              <a:lnSpc>
                <a:spcPct val="100000"/>
              </a:lnSpc>
            </a:pPr>
            <a:r>
              <a:rPr lang="en-US" sz="3733" b="1" spc="-1" dirty="0">
                <a:solidFill>
                  <a:srgbClr val="572314"/>
                </a:solidFill>
                <a:latin typeface="Arial Narrow" panose="020B0606020202030204" pitchFamily="34" charset="0"/>
              </a:rPr>
              <a:t>[NETWORK INTRUSION DETECTION SYSTEM]</a:t>
            </a:r>
            <a:endParaRPr lang="en-US" sz="3733" b="1" spc="-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3765" y="2137297"/>
            <a:ext cx="3210843" cy="863640"/>
          </a:xfrm>
          <a:prstGeom prst="rect">
            <a:avLst/>
          </a:prstGeom>
          <a:noFill/>
          <a:ln>
            <a:noFill/>
          </a:ln>
        </p:spPr>
        <p:txBody>
          <a:bodyPr lIns="120000" tIns="0" rIns="120000" bIns="60000">
            <a:normAutofit fontScale="94000"/>
          </a:bodyPr>
          <a:lstStyle/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SDP ID: 20260059</a:t>
            </a:r>
            <a:endParaRPr lang="en-IN" sz="2400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11258" y="2808341"/>
            <a:ext cx="7708029" cy="29943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r>
              <a:rPr lang="en-IN" sz="1867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  <a:endParaRPr lang="en-IN" sz="1867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18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SYED SIBGHATULLAH (22BCE7601)</a:t>
            </a:r>
          </a:p>
          <a:p>
            <a:pPr>
              <a:lnSpc>
                <a:spcPct val="100000"/>
              </a:lnSpc>
            </a:pPr>
            <a:r>
              <a:rPr lang="en-IN" sz="18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SANDEEP MOORTHY (22BCE8664)</a:t>
            </a: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440150" y="5585003"/>
            <a:ext cx="5163893" cy="12702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667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VIT-AP University,</a:t>
            </a:r>
          </a:p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Amravati, India</a:t>
            </a:r>
            <a:endParaRPr lang="en-IN" sz="2133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600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207360" y="-144360"/>
            <a:ext cx="40608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0FE66-D837-8A32-CA26-C63B350C9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04" y="7668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205574" y="233053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81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267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en-US" sz="4267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  <a:t> Outline</a:t>
            </a:r>
            <a:br>
              <a:rPr sz="2400" dirty="0">
                <a:latin typeface="Times New Roman" pitchFamily="18" charset="0"/>
                <a:cs typeface="Times New Roman" pitchFamily="18" charset="0"/>
              </a:rPr>
            </a:br>
            <a:endParaRPr lang="en-US" sz="5733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479957" y="804373"/>
            <a:ext cx="11339739" cy="57401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and Problem Statement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Motivations 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Work/ Literature Review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Solutions / Literature Survey 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Identified / Improvements Over Existing Solutions</a:t>
            </a:r>
            <a:endParaRPr lang="en-US" sz="2133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 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/Workflow Diagram /Model Diagram /Block Diagram/UML diagrams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Components/Features/Modules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Used/Technologies, Frameworks, and Tools Used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( Findings, Limitations, Future Directions )</a:t>
            </a:r>
          </a:p>
          <a:p>
            <a:pPr marL="491388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2133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65B10-025F-38FB-D40D-A8B640C93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43339" y="-123395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239349" y="836712"/>
            <a:ext cx="11339739" cy="2372832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/>
              <a:t>Sentinel IDS is an AI-powered network intrusion detection system that uses a stacking ensemble classifier to identify network anomalies in real-time. The system is built on the UNSW-NB15 benchmark dataset</a:t>
            </a:r>
            <a:endParaRPr lang="en-IN" sz="2800" dirty="0"/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 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r>
              <a:rPr lang="en-US" sz="2800" dirty="0"/>
              <a:t>Given a stream of network-flow records summarized into a fixed-length feature vector, build an AI-powered system that predicts, for each record, whether it </a:t>
            </a:r>
            <a:r>
              <a:rPr lang="en-US" sz="2670" dirty="0"/>
              <a:t>represents</a:t>
            </a:r>
            <a:r>
              <a:rPr lang="en-US" sz="2800" dirty="0"/>
              <a:t> normal traffic or an attack, with a probability that a security analyst can act on.</a:t>
            </a:r>
            <a:endParaRPr lang="en-US" sz="2800" spc="-1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pPr>
              <a:spcBef>
                <a:spcPts val="801"/>
              </a:spcBef>
            </a:pPr>
            <a:endParaRPr lang="en-US" sz="3733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78CB6-DE7A-C21F-2E51-769B34EEC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24187" y="-152800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145221" y="836712"/>
            <a:ext cx="11339739" cy="48002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7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Motivations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267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70" b="1" dirty="0"/>
              <a:t>Operational</a:t>
            </a:r>
            <a:r>
              <a:rPr lang="en-US" sz="2670" dirty="0"/>
              <a:t>: Security Operations </a:t>
            </a:r>
            <a:r>
              <a:rPr lang="en-US" sz="2670" dirty="0" err="1"/>
              <a:t>Centres</a:t>
            </a:r>
            <a:r>
              <a:rPr lang="en-US" sz="2670" dirty="0"/>
              <a:t> (SOCs) are understaffed and overwhelmed by false alerts. A machine-learning Network Intrusion Detection System (NIDS) that produces </a:t>
            </a:r>
            <a:r>
              <a:rPr lang="en-US" sz="2670" b="1" dirty="0"/>
              <a:t>calibrated probability scores</a:t>
            </a:r>
            <a:r>
              <a:rPr lang="en-US" sz="2670" dirty="0"/>
              <a:t> allows analysts to set conservative alert thresholds, significantly reducing false positives without missing critical attacks.</a:t>
            </a:r>
          </a:p>
          <a:p>
            <a:endParaRPr lang="en-US" sz="2670" dirty="0"/>
          </a:p>
          <a:p>
            <a:endParaRPr lang="en-US" sz="2670" dirty="0"/>
          </a:p>
          <a:p>
            <a:r>
              <a:rPr lang="en-US" sz="2670" b="1" dirty="0"/>
              <a:t>Research</a:t>
            </a:r>
            <a:r>
              <a:rPr lang="en-US" sz="2670" dirty="0"/>
              <a:t>: Network benchmarks (specifically the </a:t>
            </a:r>
            <a:r>
              <a:rPr lang="en-US" sz="2670" b="1" dirty="0"/>
              <a:t>UNSW-NB15</a:t>
            </a:r>
            <a:r>
              <a:rPr lang="en-US" sz="2670" dirty="0"/>
              <a:t> dataset used here) serve as standard baselines for evaluating classifier robustness, feature engineering, and the benefits of </a:t>
            </a:r>
            <a:r>
              <a:rPr lang="en-US" sz="2670" dirty="0" err="1"/>
              <a:t>ensembling</a:t>
            </a:r>
            <a:r>
              <a:rPr lang="en-US" sz="2670" dirty="0"/>
              <a:t>.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pPr>
              <a:spcBef>
                <a:spcPts val="801"/>
              </a:spcBef>
            </a:pPr>
            <a:endParaRPr lang="en-US" sz="3733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600" spc="-1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CC52B-73B7-DDD2-C741-7527C90E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27643" y="160200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 / Literature Review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Solutions / Literature Survey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/>
              <a:t>Signature-Based Detection</a:t>
            </a:r>
          </a:p>
          <a:p>
            <a:r>
              <a:rPr lang="en-US" sz="2000" b="1" dirty="0"/>
              <a:t>Key Tools</a:t>
            </a:r>
            <a:r>
              <a:rPr lang="en-US" sz="2000" dirty="0"/>
              <a:t>: </a:t>
            </a:r>
            <a:r>
              <a:rPr lang="en-US" sz="2000" b="1" dirty="0"/>
              <a:t>Snort</a:t>
            </a:r>
            <a:r>
              <a:rPr lang="en-US" sz="2000" dirty="0"/>
              <a:t> (Martin Roesch, 1998) and </a:t>
            </a:r>
            <a:r>
              <a:rPr lang="en-US" sz="2000" b="1" dirty="0"/>
              <a:t>Suricata</a:t>
            </a:r>
            <a:r>
              <a:rPr lang="en-US" sz="2000" dirty="0"/>
              <a:t> (OISF, 2010).</a:t>
            </a:r>
          </a:p>
          <a:p>
            <a:r>
              <a:rPr lang="en-US" sz="2000" b="1" dirty="0"/>
              <a:t>Mechanism</a:t>
            </a:r>
            <a:r>
              <a:rPr lang="en-US" sz="2000" dirty="0"/>
              <a:t>: Matches incoming network packets against a database of curated rule patterns (signatures).</a:t>
            </a:r>
          </a:p>
          <a:p>
            <a:r>
              <a:rPr lang="en-US" sz="2000" b="1" dirty="0"/>
              <a:t>Strengths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Exceptionally fast matching for known attack variants.</a:t>
            </a:r>
          </a:p>
          <a:p>
            <a:pPr lvl="1"/>
            <a:r>
              <a:rPr lang="en-US" sz="2000" dirty="0"/>
              <a:t>Low computational complexity under normal rule counts.</a:t>
            </a:r>
          </a:p>
          <a:p>
            <a:pPr lvl="1"/>
            <a:r>
              <a:rPr lang="en-US" sz="2000" dirty="0"/>
              <a:t>Near-zero false-positive rates on covered traffic.</a:t>
            </a:r>
          </a:p>
          <a:p>
            <a:r>
              <a:rPr lang="en-US" sz="2000" b="1" dirty="0"/>
              <a:t>Weaknesses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Completely blind to zero-day attacks.</a:t>
            </a:r>
          </a:p>
          <a:p>
            <a:pPr lvl="1"/>
            <a:r>
              <a:rPr lang="en-US" sz="2000" dirty="0"/>
              <a:t>Easily bypassed by minor mutations in attack payloads.</a:t>
            </a:r>
          </a:p>
          <a:p>
            <a:pPr lvl="1"/>
            <a:r>
              <a:rPr lang="en-US" sz="2000" dirty="0"/>
              <a:t>High operational maintenance cost (continuous manual curation of signatures).</a:t>
            </a:r>
          </a:p>
          <a:p>
            <a:endParaRPr lang="en-US" sz="2667" b="1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C75E4-0647-31EF-D0A1-31E02A040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7D6-03BF-ABD4-5963-0B5933A5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2E241FF9-5D2F-1BC3-DBC2-17F24C9AB970}"/>
              </a:ext>
            </a:extLst>
          </p:cNvPr>
          <p:cNvSpPr txBox="1"/>
          <p:nvPr/>
        </p:nvSpPr>
        <p:spPr>
          <a:xfrm>
            <a:off x="250476" y="265392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15BEA23-F073-686E-2A38-52DB7FE8849D}"/>
              </a:ext>
            </a:extLst>
          </p:cNvPr>
          <p:cNvSpPr txBox="1"/>
          <p:nvPr/>
        </p:nvSpPr>
        <p:spPr>
          <a:xfrm>
            <a:off x="269283" y="836712"/>
            <a:ext cx="11193400" cy="496972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>
              <a:buClr>
                <a:srgbClr val="C00000"/>
              </a:buClr>
            </a:pPr>
            <a:r>
              <a:rPr lang="en-US" sz="26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Clr>
                <a:srgbClr val="C00000"/>
              </a:buClr>
            </a:pPr>
            <a:r>
              <a:rPr lang="en-US" b="1" dirty="0"/>
              <a:t>Binary Classification</a:t>
            </a:r>
            <a:r>
              <a:rPr lang="en-US" dirty="0"/>
              <a:t>: Classify each network flow as </a:t>
            </a:r>
            <a:r>
              <a:rPr lang="en-US" b="1" dirty="0"/>
              <a:t>Normal</a:t>
            </a:r>
            <a:r>
              <a:rPr lang="en-US" dirty="0"/>
              <a:t> or </a:t>
            </a:r>
            <a:r>
              <a:rPr lang="en-US" b="1" dirty="0"/>
              <a:t>Attack</a:t>
            </a:r>
            <a:r>
              <a:rPr lang="en-US" dirty="0"/>
              <a:t> using a binary classification pipeline with a customizable decision threshold.</a:t>
            </a: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C00000"/>
              </a:buClr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C00000"/>
              </a:buClr>
            </a:pPr>
            <a:r>
              <a:rPr lang="en-US" b="1" dirty="0"/>
              <a:t>Stacking Ensemble</a:t>
            </a:r>
            <a:r>
              <a:rPr lang="en-US" dirty="0"/>
              <a:t>: Combine 5 heterogeneous base classifiers (</a:t>
            </a:r>
            <a:r>
              <a:rPr lang="en-US" b="1" dirty="0"/>
              <a:t>Random Forest</a:t>
            </a:r>
            <a:r>
              <a:rPr lang="en-US" dirty="0"/>
              <a:t>, </a:t>
            </a:r>
            <a:r>
              <a:rPr lang="en-US" b="1" dirty="0" err="1"/>
              <a:t>XGBoost</a:t>
            </a:r>
            <a:r>
              <a:rPr lang="en-US" dirty="0"/>
              <a:t>, </a:t>
            </a:r>
            <a:r>
              <a:rPr lang="en-US" b="1" dirty="0" err="1"/>
              <a:t>LightGBM</a:t>
            </a:r>
            <a:r>
              <a:rPr lang="en-US" dirty="0"/>
              <a:t>, </a:t>
            </a:r>
            <a:r>
              <a:rPr lang="en-US" b="1" dirty="0"/>
              <a:t>Extra Trees</a:t>
            </a:r>
            <a:r>
              <a:rPr lang="en-US" dirty="0"/>
              <a:t>, and </a:t>
            </a:r>
            <a:r>
              <a:rPr lang="en-US" b="1" dirty="0"/>
              <a:t>MLP Neural Network</a:t>
            </a:r>
            <a:r>
              <a:rPr lang="en-US" dirty="0"/>
              <a:t>) via a Level-2 meta-learner (</a:t>
            </a:r>
            <a:r>
              <a:rPr lang="en-US" b="1" dirty="0"/>
              <a:t>Logistic Regression</a:t>
            </a:r>
            <a:r>
              <a:rPr lang="en-US" dirty="0"/>
              <a:t>) to achieve higher accuracy than any single model.</a:t>
            </a:r>
          </a:p>
          <a:p>
            <a:pPr>
              <a:buClr>
                <a:srgbClr val="C00000"/>
              </a:buClr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C00000"/>
              </a:buClr>
            </a:pPr>
            <a:r>
              <a:rPr lang="en-US" b="1" dirty="0"/>
              <a:t>Probability Calibration</a:t>
            </a:r>
            <a:r>
              <a:rPr lang="en-US" dirty="0"/>
              <a:t>: Apply probability calibration (evaluating Platt scaling, isotonic regression, and temperature scaling) to align predicted probabilities with actual attack likelihoods.</a:t>
            </a:r>
          </a:p>
          <a:p>
            <a:pPr>
              <a:buClr>
                <a:srgbClr val="C00000"/>
              </a:buClr>
            </a:pPr>
            <a:endParaRPr lang="en-US" dirty="0"/>
          </a:p>
          <a:p>
            <a:pPr>
              <a:buClr>
                <a:srgbClr val="C00000"/>
              </a:buClr>
            </a:pPr>
            <a:r>
              <a:rPr lang="en-US" b="1" dirty="0"/>
              <a:t>Interactive Console &amp; API</a:t>
            </a:r>
            <a:r>
              <a:rPr lang="en-US" dirty="0"/>
              <a:t>: Provide a Flask REST API for single and batch predictions, and a React web dashboard for real-time monitoring and threat level visualization.</a:t>
            </a:r>
          </a:p>
          <a:p>
            <a:pPr>
              <a:buClr>
                <a:srgbClr val="C00000"/>
              </a:buClr>
            </a:pPr>
            <a:endParaRPr lang="en-US" dirty="0"/>
          </a:p>
          <a:p>
            <a:pPr>
              <a:buClr>
                <a:srgbClr val="C00000"/>
              </a:buClr>
            </a:pPr>
            <a:r>
              <a:rPr lang="en-US" b="1" dirty="0"/>
              <a:t>False Alarm Mitigation</a:t>
            </a:r>
            <a:r>
              <a:rPr lang="en-US" dirty="0"/>
              <a:t>: Enable security operators to explore trade-offs between recall and false-positive rates to adjust thresholds to their workload.</a:t>
            </a:r>
          </a:p>
          <a:p>
            <a:pPr>
              <a:buClr>
                <a:srgbClr val="C00000"/>
              </a:buClr>
            </a:pPr>
            <a:endParaRPr lang="en-US" dirty="0"/>
          </a:p>
          <a:p>
            <a:pPr>
              <a:buClr>
                <a:srgbClr val="C00000"/>
              </a:buClr>
            </a:pPr>
            <a:endParaRPr lang="en-US" dirty="0"/>
          </a:p>
          <a:p>
            <a:pPr>
              <a:buClr>
                <a:srgbClr val="C00000"/>
              </a:buClr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C00000"/>
              </a:buClr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6627">
              <a:spcBef>
                <a:spcPts val="733"/>
              </a:spcBef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9917">
              <a:spcBef>
                <a:spcPts val="801"/>
              </a:spcBef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3F1BA4A-B791-6659-F2FD-2647DE6FC648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12AD2-865E-7C9C-72CF-6E38897C7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8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9332-D921-3BFE-A1C6-4CDA7370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9DF74D6-8542-66F4-E5C8-36EC5552BB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D592292-8B68-0429-6562-4780C7DA3939}"/>
              </a:ext>
            </a:extLst>
          </p:cNvPr>
          <p:cNvSpPr txBox="1"/>
          <p:nvPr/>
        </p:nvSpPr>
        <p:spPr>
          <a:xfrm>
            <a:off x="29156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 / Features / Modules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/>
              <a:t>Core System Features</a:t>
            </a:r>
          </a:p>
          <a:p>
            <a:r>
              <a:rPr lang="en-US" b="1" dirty="0"/>
              <a:t>Real-time Prediction</a:t>
            </a:r>
            <a:r>
              <a:rPr lang="en-US" dirty="0"/>
              <a:t>: Analysts can submit individual flow records via a custom-designed form or as raw space-delimited text vectors.</a:t>
            </a:r>
          </a:p>
          <a:p>
            <a:r>
              <a:rPr lang="en-US" b="1" dirty="0"/>
              <a:t>Calibrated Threat Classification</a:t>
            </a:r>
            <a:r>
              <a:rPr lang="en-US" dirty="0"/>
              <a:t>: Translates calibrated probabilities into color-coded threat level badges:</a:t>
            </a:r>
          </a:p>
          <a:p>
            <a:pPr lvl="1"/>
            <a:r>
              <a:rPr lang="en-US" b="1" dirty="0"/>
              <a:t>LOW</a:t>
            </a:r>
            <a:r>
              <a:rPr lang="en-US" dirty="0"/>
              <a:t> (probability &lt; 40%): Green badge.</a:t>
            </a:r>
          </a:p>
          <a:p>
            <a:pPr lvl="1"/>
            <a:r>
              <a:rPr lang="en-US" b="1" dirty="0"/>
              <a:t>MEDIUM</a:t>
            </a:r>
            <a:r>
              <a:rPr lang="en-US" dirty="0"/>
              <a:t> (40% - 70%): Amber badge.</a:t>
            </a:r>
          </a:p>
          <a:p>
            <a:pPr lvl="1"/>
            <a:r>
              <a:rPr lang="en-US" b="1" dirty="0"/>
              <a:t>HIGH</a:t>
            </a:r>
            <a:r>
              <a:rPr lang="en-US" dirty="0"/>
              <a:t> (probability &gt; 70%): Red badge.</a:t>
            </a:r>
          </a:p>
          <a:p>
            <a:r>
              <a:rPr lang="en-US" b="1" dirty="0"/>
              <a:t>Simulated Batch Stream</a:t>
            </a:r>
            <a:r>
              <a:rPr lang="en-US" dirty="0"/>
              <a:t>: Simulates batch flows (up to 200 records at once) with live chart updates graphing intrusion percentage ratios.</a:t>
            </a:r>
          </a:p>
          <a:p>
            <a:r>
              <a:rPr lang="en-US" b="1" dirty="0"/>
              <a:t>Security Auditing</a:t>
            </a:r>
            <a:r>
              <a:rPr lang="en-US" dirty="0"/>
              <a:t>: A persistent, scrollable prediction history panel allowing operators to examine audit logs of recent traffic runs.</a:t>
            </a:r>
          </a:p>
          <a:p>
            <a:r>
              <a:rPr lang="en-US" b="1" dirty="0"/>
              <a:t>Automatic Offline Verification</a:t>
            </a:r>
            <a:r>
              <a:rPr lang="en-US" dirty="0"/>
              <a:t>: The project includes smoke and integration test suites ([test_backend_connection.py]) verifying model metadata, routing, and schema structures.</a:t>
            </a:r>
          </a:p>
          <a:p>
            <a:endParaRPr lang="en-US" sz="2400" b="1" dirty="0"/>
          </a:p>
          <a:p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471D65F0-7C33-1A96-D35E-3C9EDA24150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7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0F54D-98A0-7154-F3DB-CEA97F35E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1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AD02-BE5E-1467-2150-90B5D740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AFE7C81F-6E58-2367-107E-6694BBFC4019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C105956-1DE0-D7E6-B955-48A1A17A560C}"/>
              </a:ext>
            </a:extLst>
          </p:cNvPr>
          <p:cNvSpPr txBox="1"/>
          <p:nvPr/>
        </p:nvSpPr>
        <p:spPr>
          <a:xfrm>
            <a:off x="291560" y="740701"/>
            <a:ext cx="11193400" cy="516641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/ Technologies, Frameworks, and Tools Used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r>
              <a:rPr lang="en-US" sz="2400" b="1" dirty="0"/>
              <a:t>Machine Learning Algorithms</a:t>
            </a:r>
          </a:p>
          <a:p>
            <a:r>
              <a:rPr lang="en-US" dirty="0"/>
              <a:t>The project utilizes a </a:t>
            </a:r>
            <a:r>
              <a:rPr lang="en-US" b="1" dirty="0"/>
              <a:t>hybrid stacking ensemble</a:t>
            </a:r>
            <a:r>
              <a:rPr lang="en-US" dirty="0"/>
              <a:t> (Level-1 base learners combined via a Level-2 meta-learner) consisting of the following algorithms:</a:t>
            </a:r>
          </a:p>
          <a:p>
            <a:r>
              <a:rPr lang="en-US" b="1" dirty="0"/>
              <a:t>Random Forest (RF),</a:t>
            </a:r>
            <a:r>
              <a:rPr lang="en-US" dirty="0"/>
              <a:t> </a:t>
            </a:r>
            <a:r>
              <a:rPr lang="en-US" b="1" dirty="0"/>
              <a:t>Extra Trees (ET),</a:t>
            </a:r>
            <a:r>
              <a:rPr lang="en-US" dirty="0"/>
              <a:t> </a:t>
            </a:r>
            <a:r>
              <a:rPr lang="en-US" b="1" dirty="0" err="1"/>
              <a:t>XGBoost</a:t>
            </a:r>
            <a:r>
              <a:rPr lang="en-US" b="1" dirty="0"/>
              <a:t> (XGB),</a:t>
            </a:r>
            <a:r>
              <a:rPr lang="en-US" dirty="0"/>
              <a:t> </a:t>
            </a:r>
            <a:r>
              <a:rPr lang="en-US" b="1" dirty="0" err="1"/>
              <a:t>LightGBM</a:t>
            </a:r>
            <a:r>
              <a:rPr lang="en-US" b="1" dirty="0"/>
              <a:t> (LGB),Multi-Layer Perceptron (MLP),</a:t>
            </a:r>
            <a:r>
              <a:rPr lang="en-US" dirty="0"/>
              <a:t> </a:t>
            </a:r>
            <a:r>
              <a:rPr lang="en-US" b="1" dirty="0"/>
              <a:t>Logistic Regression (LR)</a:t>
            </a:r>
          </a:p>
          <a:p>
            <a:endParaRPr lang="en-US" dirty="0"/>
          </a:p>
          <a:p>
            <a:r>
              <a:rPr lang="en-US" sz="2400" b="1" dirty="0"/>
              <a:t>Programming Languages</a:t>
            </a:r>
          </a:p>
          <a:p>
            <a:r>
              <a:rPr lang="en-US" b="1" dirty="0"/>
              <a:t>Python 3.11,JavaScript (ES2022)</a:t>
            </a:r>
            <a:r>
              <a:rPr lang="en-US" dirty="0"/>
              <a:t>,</a:t>
            </a:r>
            <a:r>
              <a:rPr lang="en-US" b="1" dirty="0"/>
              <a:t>CSS (Vanilla CSS)</a:t>
            </a:r>
          </a:p>
          <a:p>
            <a:endParaRPr lang="en-US" dirty="0"/>
          </a:p>
          <a:p>
            <a:r>
              <a:rPr lang="en-US" sz="2400" b="1" dirty="0"/>
              <a:t>Web Stack</a:t>
            </a:r>
          </a:p>
          <a:p>
            <a:r>
              <a:rPr lang="en-US" b="1" dirty="0"/>
              <a:t>Flask</a:t>
            </a:r>
            <a:r>
              <a:rPr lang="en-US" sz="2400" b="1" dirty="0"/>
              <a:t>,</a:t>
            </a:r>
            <a:r>
              <a:rPr lang="en-US" b="1" dirty="0"/>
              <a:t> scikit-learn, pandas, NumPy, </a:t>
            </a:r>
            <a:r>
              <a:rPr lang="en-US" b="1" dirty="0" err="1"/>
              <a:t>joblib</a:t>
            </a:r>
            <a:r>
              <a:rPr lang="en-US" b="1" dirty="0"/>
              <a:t>, Matplotlib, React 18, Vite, Recharts </a:t>
            </a:r>
            <a:endParaRPr lang="en-US" sz="2400" b="1" dirty="0"/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F4BC6724-9707-184F-3066-39F40243A6B0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8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5297C-41A1-D3DE-E0E5-215AC0FFA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0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2C97-F36E-BCB4-699E-2D81621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160046-EB52-CD90-37C0-AFB11476B9CB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</a:t>
            </a:r>
            <a:br>
              <a:rPr lang="en-US" sz="7066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8A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F3FF00A-8B20-B862-1391-CAE97E4165AE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Descriptions / Input – Output Descriptions</a:t>
            </a:r>
          </a:p>
          <a:p>
            <a:r>
              <a:rPr lang="en-US" dirty="0"/>
              <a:t>The system is trained and evaluated on the </a:t>
            </a:r>
            <a:r>
              <a:rPr lang="en-US" b="1" dirty="0"/>
              <a:t>UNSW-NB15</a:t>
            </a:r>
            <a:r>
              <a:rPr lang="en-US" dirty="0"/>
              <a:t> dataset, a modern cyber-security benchmark released in 2015 by the Australian Centre for Cyber Security (ACCS) at the University of New South Wales:</a:t>
            </a:r>
          </a:p>
          <a:p>
            <a:r>
              <a:rPr lang="en-US" b="1" dirty="0"/>
              <a:t>Classification Task</a:t>
            </a:r>
            <a:r>
              <a:rPr lang="en-US" dirty="0"/>
              <a:t>: Binary classification (Normal vs. Attack).</a:t>
            </a:r>
          </a:p>
          <a:p>
            <a:r>
              <a:rPr lang="en-US" b="1" dirty="0"/>
              <a:t>Target Classes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0 (Normal)</a:t>
            </a:r>
            <a:r>
              <a:rPr lang="en-US" dirty="0"/>
              <a:t>: Legitimate, benign background network traffic.</a:t>
            </a:r>
          </a:p>
          <a:p>
            <a:pPr lvl="1"/>
            <a:r>
              <a:rPr lang="en-US" b="1" dirty="0"/>
              <a:t>1 (Attack)</a:t>
            </a:r>
            <a:r>
              <a:rPr lang="en-US" dirty="0"/>
              <a:t>: Network intrusions spanning 9 main categories (Denial of Service, Exploits, Reconnaissance, </a:t>
            </a:r>
            <a:r>
              <a:rPr lang="en-US" dirty="0" err="1"/>
              <a:t>Fuzzers</a:t>
            </a:r>
            <a:r>
              <a:rPr lang="en-US" dirty="0"/>
              <a:t>, Worms, Shellcode, Backdoors, Generic, and Analysis). These categories are merged into a single </a:t>
            </a:r>
            <a:r>
              <a:rPr lang="en-US" i="1" dirty="0"/>
              <a:t>Attack</a:t>
            </a:r>
            <a:r>
              <a:rPr lang="en-US" dirty="0"/>
              <a:t> class for model training.</a:t>
            </a:r>
          </a:p>
          <a:p>
            <a:r>
              <a:rPr lang="en-US" b="1" dirty="0"/>
              <a:t>Dataset Splits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Training Split</a:t>
            </a:r>
            <a:r>
              <a:rPr lang="en-US" dirty="0"/>
              <a:t>: 175,341 records (56,000 Normal, 119,341 Attack).</a:t>
            </a:r>
          </a:p>
          <a:p>
            <a:pPr lvl="1"/>
            <a:r>
              <a:rPr lang="en-US" b="1" dirty="0"/>
              <a:t>Test Split</a:t>
            </a:r>
            <a:r>
              <a:rPr lang="en-US" dirty="0"/>
              <a:t>: 82,332 records (37,000 Normal, 45,332 Attack).</a:t>
            </a:r>
          </a:p>
          <a:p>
            <a:br>
              <a:rPr lang="en-US" dirty="0"/>
            </a:b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64EDF79D-8D5B-6AFF-0EA3-42D35D8BD3B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9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29E7A-873F-C14D-0B20-4F447B95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89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A995-01EF-3BFB-7823-ADBBEBB2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538C986-A499-4BC7-0FC4-41C7F2F0E21A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B2CA8E46-881A-8416-8683-D5ED614CAA5C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Descriptions (if any) / Initial Conditions</a:t>
            </a:r>
          </a:p>
          <a:p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F31D5F8-9576-A840-BF26-6AA4B120CB3B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10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41B09-4214-E675-25C5-C90970731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69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6590-130F-3A1D-795E-8AFFC2DA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F14393-9A37-2D02-0344-78D9F6E689B1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E49C05A0-2C97-2541-4E28-44A122580ED2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Outcomes ( Tables / Figures / User Interface Snaps)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EC59059-43FC-16C5-5641-AD3BDB705205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11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CC750-5D7C-122E-E515-2121CE9DC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6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0B70-1216-02D6-262F-052A2F4E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B60AF336-44CE-7247-0B45-79090645D009}"/>
              </a:ext>
            </a:extLst>
          </p:cNvPr>
          <p:cNvSpPr txBox="1"/>
          <p:nvPr/>
        </p:nvSpPr>
        <p:spPr>
          <a:xfrm>
            <a:off x="239349" y="-57612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US" sz="7066" b="1" spc="-1" dirty="0">
              <a:solidFill>
                <a:srgbClr val="8A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04B85FD5-3FAE-79AB-5054-FA07D62206A0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Findings 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Limitations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Future Directions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0F35EE9-6632-A4B6-2276-B6EF73DD62FE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7C302-E233-3B61-E0B1-D2E6140F2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7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17" y="158727"/>
            <a:ext cx="11244488" cy="738664"/>
          </a:xfrm>
        </p:spPr>
        <p:txBody>
          <a:bodyPr/>
          <a:lstStyle/>
          <a:p>
            <a:r>
              <a:rPr lang="en-IN" sz="3200" b="1" spc="-1" dirty="0">
                <a:solidFill>
                  <a:srgbClr val="5723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3200" b="1" spc="-1" dirty="0">
              <a:solidFill>
                <a:srgbClr val="5723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24417" y="980728"/>
            <a:ext cx="11632223" cy="4896544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APA format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358C6-30AF-91C7-9A73-158A41913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914240" y="274680"/>
            <a:ext cx="9996960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endParaRPr lang="en-US" sz="2400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14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CBCE0-B505-3CFD-B630-DF11CC080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74" y="2123332"/>
            <a:ext cx="5856652" cy="2611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979</Words>
  <Application>Microsoft Office PowerPoint</Application>
  <PresentationFormat>Widescreen</PresentationFormat>
  <Paragraphs>157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Black</vt:lpstr>
      <vt:lpstr>Arial Narrow</vt:lpstr>
      <vt:lpstr>Bebas Neue</vt:lpstr>
      <vt:lpstr>Calibri</vt:lpstr>
      <vt:lpstr>Calibri Light</vt:lpstr>
      <vt:lpstr>Gill Sans MT</vt:lpstr>
      <vt:lpstr>Quicksand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Samuka Mohanty</dc:creator>
  <cp:lastModifiedBy>SYED SIBGHATULLAH</cp:lastModifiedBy>
  <cp:revision>5</cp:revision>
  <dcterms:created xsi:type="dcterms:W3CDTF">2026-05-03T04:16:34Z</dcterms:created>
  <dcterms:modified xsi:type="dcterms:W3CDTF">2026-06-27T08:44:43Z</dcterms:modified>
</cp:coreProperties>
</file>