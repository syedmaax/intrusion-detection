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58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30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29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76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4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3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9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72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4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12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46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Intrusion Detection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Goal: classify network traffic as Normal or Attack</a:t>
            </a:r>
          </a:p>
          <a:p>
            <a:pPr>
              <a:defRPr sz="2000"/>
            </a:pPr>
            <a:r>
              <a:t>Dataset: UNSW-NB15 train and test split</a:t>
            </a:r>
          </a:p>
          <a:p>
            <a:pPr>
              <a:defRPr sz="2000"/>
            </a:pPr>
            <a:r>
              <a:t>System: Flask backend + React dashboard</a:t>
            </a:r>
          </a:p>
          <a:p>
            <a:pPr>
              <a:defRPr sz="2000"/>
            </a:pPr>
            <a:r>
              <a:t>Approach: stacked ensemble + probability calibration</a:t>
            </a:r>
          </a:p>
          <a:p>
            <a:pPr>
              <a:defRPr sz="2000"/>
            </a:pPr>
            <a:r>
              <a:t>Output: prediction, attack probability, threat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Parameters The Model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1671146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Traffic and Packet Behavior</a:t>
            </a:r>
          </a:p>
          <a:p>
            <a:pPr>
              <a:defRPr sz="1400"/>
            </a:pPr>
            <a:r>
              <a:rPr dirty="0"/>
              <a:t>dur: connection duration</a:t>
            </a:r>
          </a:p>
          <a:p>
            <a:pPr>
              <a:defRPr sz="1400"/>
            </a:pPr>
            <a:r>
              <a:rPr dirty="0" err="1"/>
              <a:t>spkts</a:t>
            </a:r>
            <a:r>
              <a:rPr dirty="0"/>
              <a:t>, </a:t>
            </a:r>
            <a:r>
              <a:rPr dirty="0" err="1"/>
              <a:t>dpkts</a:t>
            </a:r>
            <a:r>
              <a:rPr dirty="0"/>
              <a:t>: packet counts</a:t>
            </a:r>
          </a:p>
          <a:p>
            <a:pPr>
              <a:defRPr sz="1400"/>
            </a:pPr>
            <a:r>
              <a:rPr dirty="0" err="1"/>
              <a:t>sbytes</a:t>
            </a:r>
            <a:r>
              <a:rPr dirty="0"/>
              <a:t>, </a:t>
            </a:r>
            <a:r>
              <a:rPr dirty="0" err="1"/>
              <a:t>dbytes</a:t>
            </a:r>
            <a:r>
              <a:rPr dirty="0"/>
              <a:t>: byte counts</a:t>
            </a:r>
          </a:p>
          <a:p>
            <a:pPr>
              <a:defRPr sz="1400"/>
            </a:pPr>
            <a:r>
              <a:rPr dirty="0"/>
              <a:t>rate: traffic rate</a:t>
            </a:r>
          </a:p>
          <a:p>
            <a:pPr>
              <a:defRPr sz="1400"/>
            </a:pPr>
            <a:r>
              <a:rPr dirty="0" err="1"/>
              <a:t>sinpkt</a:t>
            </a:r>
            <a:r>
              <a:rPr dirty="0"/>
              <a:t>, </a:t>
            </a:r>
            <a:r>
              <a:rPr dirty="0" err="1"/>
              <a:t>dinpkt</a:t>
            </a:r>
            <a:r>
              <a:rPr dirty="0"/>
              <a:t>: packet timing</a:t>
            </a:r>
          </a:p>
          <a:p>
            <a:pPr>
              <a:defRPr sz="1400"/>
            </a:pPr>
            <a:r>
              <a:rPr dirty="0" err="1"/>
              <a:t>sjit</a:t>
            </a:r>
            <a:r>
              <a:rPr dirty="0"/>
              <a:t>, </a:t>
            </a:r>
            <a:r>
              <a:rPr dirty="0" err="1"/>
              <a:t>djit</a:t>
            </a:r>
            <a:r>
              <a:rPr dirty="0"/>
              <a:t>: jitter</a:t>
            </a:r>
          </a:p>
          <a:p>
            <a:pPr>
              <a:defRPr sz="1400"/>
            </a:pPr>
            <a:r>
              <a:rPr dirty="0" err="1"/>
              <a:t>sttl</a:t>
            </a:r>
            <a:r>
              <a:rPr dirty="0"/>
              <a:t>, </a:t>
            </a:r>
            <a:r>
              <a:rPr dirty="0" err="1"/>
              <a:t>dttl</a:t>
            </a:r>
            <a:r>
              <a:rPr dirty="0"/>
              <a:t>: TTL values</a:t>
            </a:r>
          </a:p>
          <a:p>
            <a:pPr>
              <a:defRPr sz="1400"/>
            </a:pPr>
            <a:r>
              <a:rPr dirty="0" err="1"/>
              <a:t>sload</a:t>
            </a:r>
            <a:r>
              <a:rPr dirty="0"/>
              <a:t>, </a:t>
            </a:r>
            <a:r>
              <a:rPr dirty="0" err="1"/>
              <a:t>dload</a:t>
            </a:r>
            <a:r>
              <a:rPr dirty="0"/>
              <a:t>: traffic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4648" y="1671146"/>
            <a:ext cx="5577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Protocol and Pattern Indicators</a:t>
            </a:r>
          </a:p>
          <a:p>
            <a:pPr>
              <a:defRPr sz="1400"/>
            </a:pPr>
            <a:r>
              <a:rPr dirty="0"/>
              <a:t>proto, service, state: protocol/service/state</a:t>
            </a:r>
          </a:p>
          <a:p>
            <a:pPr>
              <a:defRPr sz="1400"/>
            </a:pPr>
            <a:r>
              <a:rPr dirty="0" err="1"/>
              <a:t>tcprtt</a:t>
            </a:r>
            <a:r>
              <a:rPr dirty="0"/>
              <a:t>, </a:t>
            </a:r>
            <a:r>
              <a:rPr dirty="0" err="1"/>
              <a:t>synack</a:t>
            </a:r>
            <a:r>
              <a:rPr dirty="0"/>
              <a:t>, </a:t>
            </a:r>
            <a:r>
              <a:rPr dirty="0" err="1"/>
              <a:t>ackdat</a:t>
            </a:r>
            <a:r>
              <a:rPr dirty="0"/>
              <a:t>: TCP timing</a:t>
            </a:r>
          </a:p>
          <a:p>
            <a:pPr>
              <a:defRPr sz="1400"/>
            </a:pPr>
            <a:r>
              <a:rPr dirty="0" err="1"/>
              <a:t>ct_srv_src</a:t>
            </a:r>
            <a:r>
              <a:rPr dirty="0"/>
              <a:t>: repeated service from source</a:t>
            </a:r>
          </a:p>
          <a:p>
            <a:pPr>
              <a:defRPr sz="1400"/>
            </a:pPr>
            <a:r>
              <a:rPr dirty="0" err="1"/>
              <a:t>ct_dst_ltm</a:t>
            </a:r>
            <a:r>
              <a:rPr dirty="0"/>
              <a:t>: repeated destination access</a:t>
            </a:r>
          </a:p>
          <a:p>
            <a:pPr>
              <a:defRPr sz="1400"/>
            </a:pPr>
            <a:r>
              <a:rPr dirty="0" err="1"/>
              <a:t>ct_src_dport_ltm</a:t>
            </a:r>
            <a:r>
              <a:rPr dirty="0"/>
              <a:t>: repeated </a:t>
            </a:r>
            <a:r>
              <a:rPr dirty="0" err="1"/>
              <a:t>dst</a:t>
            </a:r>
            <a:r>
              <a:rPr dirty="0"/>
              <a:t> port from source</a:t>
            </a:r>
          </a:p>
          <a:p>
            <a:pPr>
              <a:defRPr sz="1400"/>
            </a:pPr>
            <a:r>
              <a:rPr dirty="0" err="1"/>
              <a:t>ct_flw_http_mthd</a:t>
            </a:r>
            <a:r>
              <a:rPr dirty="0"/>
              <a:t>: HTTP method count</a:t>
            </a:r>
          </a:p>
          <a:p>
            <a:pPr>
              <a:defRPr sz="1400"/>
            </a:pPr>
            <a:r>
              <a:rPr dirty="0" err="1"/>
              <a:t>is_ftp_login</a:t>
            </a:r>
            <a:r>
              <a:rPr dirty="0"/>
              <a:t>: FTP login indicator</a:t>
            </a:r>
          </a:p>
          <a:p>
            <a:pPr>
              <a:defRPr sz="1400"/>
            </a:pPr>
            <a:r>
              <a:rPr dirty="0" err="1"/>
              <a:t>is_sm_ips_ports</a:t>
            </a:r>
            <a:r>
              <a:rPr dirty="0"/>
              <a:t>: 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dst</a:t>
            </a:r>
            <a:r>
              <a:rPr dirty="0"/>
              <a:t> same IP-port pattern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and 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Base models: Random Forest, XGBoost, LightGBM, Extra Trees, MLP</a:t>
            </a:r>
          </a:p>
          <a:p>
            <a:pPr>
              <a:defRPr sz="2000"/>
            </a:pPr>
            <a:r>
              <a:t>Each base model outputs attack probability</a:t>
            </a:r>
          </a:p>
          <a:p>
            <a:pPr>
              <a:defRPr sz="2000"/>
            </a:pPr>
            <a:r>
              <a:t>Meta model combines base probabilities (stacking)</a:t>
            </a:r>
          </a:p>
          <a:p>
            <a:pPr>
              <a:defRPr sz="2000"/>
            </a:pPr>
            <a:r>
              <a:t>Meta model used: LogisticRegression</a:t>
            </a:r>
          </a:p>
          <a:p>
            <a:pPr>
              <a:defRPr sz="2000"/>
            </a:pPr>
            <a:r>
              <a:t>Final probability is calibrated for interpretability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825" y="201168"/>
            <a:ext cx="7290054" cy="1499616"/>
          </a:xfrm>
        </p:spPr>
        <p:txBody>
          <a:bodyPr/>
          <a:lstStyle/>
          <a:p>
            <a:r>
              <a:rPr dirty="0"/>
              <a:t>Test Metrics (Individual + Ensemble)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048635"/>
              </p:ext>
            </p:extLst>
          </p:nvPr>
        </p:nvGraphicFramePr>
        <p:xfrm>
          <a:off x="146304" y="1627632"/>
          <a:ext cx="87599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9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ROC-AUC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 err="1"/>
                        <a:t>XGBoost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0.9864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0.8907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0.8592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0.9788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Ensemble 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Ensemble 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0.9874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-45720"/>
            <a:ext cx="8229600" cy="1143000"/>
          </a:xfrm>
        </p:spPr>
        <p:txBody>
          <a:bodyPr/>
          <a:lstStyle/>
          <a:p>
            <a:r>
              <a:rPr dirty="0"/>
              <a:t>Confusion Matrix Overview</a:t>
            </a:r>
          </a:p>
        </p:txBody>
      </p:sp>
      <p:pic>
        <p:nvPicPr>
          <p:cNvPr id="3" name="Picture 2" descr="confusion_matrice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" y="1097280"/>
            <a:ext cx="8921496" cy="53528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Model-wise confusion matrices on UNSW test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024" y="0"/>
            <a:ext cx="7290054" cy="1499616"/>
          </a:xfrm>
        </p:spPr>
        <p:txBody>
          <a:bodyPr/>
          <a:lstStyle/>
          <a:p>
            <a:r>
              <a:rPr dirty="0"/>
              <a:t>ROC Curve Comparison</a:t>
            </a:r>
          </a:p>
        </p:txBody>
      </p:sp>
      <p:pic>
        <p:nvPicPr>
          <p:cNvPr id="3" name="Picture 2" descr="roc_curve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58" y="1095756"/>
            <a:ext cx="7894320" cy="5526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AUC comparison across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"/>
            <a:ext cx="8229600" cy="1143000"/>
          </a:xfrm>
        </p:spPr>
        <p:txBody>
          <a:bodyPr/>
          <a:lstStyle/>
          <a:p>
            <a:r>
              <a:rPr dirty="0"/>
              <a:t>Calibration Curve</a:t>
            </a:r>
          </a:p>
        </p:txBody>
      </p:sp>
      <p:pic>
        <p:nvPicPr>
          <p:cNvPr id="3" name="Picture 2" descr="ensemble_calibration_curve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44880"/>
            <a:ext cx="7172960" cy="5379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2179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Predicted probabilities vs observed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All individual models are working and contribute to final output</a:t>
            </a:r>
          </a:p>
          <a:p>
            <a:pPr>
              <a:defRPr sz="2000"/>
            </a:pPr>
            <a:r>
              <a:rPr dirty="0"/>
              <a:t>Ensemble improves stability and overall performance</a:t>
            </a:r>
          </a:p>
          <a:p>
            <a:pPr>
              <a:defRPr sz="2000"/>
            </a:pPr>
            <a:r>
              <a:rPr dirty="0"/>
              <a:t>Ensemble test accuracy: 0.9012</a:t>
            </a:r>
          </a:p>
          <a:p>
            <a:pPr>
              <a:defRPr sz="2000"/>
            </a:pPr>
            <a:r>
              <a:rPr dirty="0"/>
              <a:t>Model is ready for demonstration with live dashboard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</TotalTime>
  <Words>341</Words>
  <Application>Microsoft Office PowerPoint</Application>
  <PresentationFormat>On-screen Show (4:3)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Tw Cen MT</vt:lpstr>
      <vt:lpstr>Tw Cen MT Condensed</vt:lpstr>
      <vt:lpstr>Wingdings 3</vt:lpstr>
      <vt:lpstr>Integral</vt:lpstr>
      <vt:lpstr>Network Intrusion Detection System</vt:lpstr>
      <vt:lpstr>Project Intro</vt:lpstr>
      <vt:lpstr>Key Parameters The Model Checks</vt:lpstr>
      <vt:lpstr>Models and Ensemble</vt:lpstr>
      <vt:lpstr>Test Metrics (Individual + Ensemble)</vt:lpstr>
      <vt:lpstr>Confusion Matrix Overview</vt:lpstr>
      <vt:lpstr>ROC Curve Comparison</vt:lpstr>
      <vt:lpstr>Calibration Curve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SIBGHATULLAH</cp:lastModifiedBy>
  <cp:revision>4</cp:revision>
  <dcterms:created xsi:type="dcterms:W3CDTF">2013-01-27T09:14:16Z</dcterms:created>
  <dcterms:modified xsi:type="dcterms:W3CDTF">2026-06-26T18:29:44Z</dcterms:modified>
  <cp:category/>
</cp:coreProperties>
</file>