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307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047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288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379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668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967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391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532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65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696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2291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2379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6544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357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73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3977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655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72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b="1" dirty="0"/>
              <a:t>Sentinel IDS</a:t>
            </a:r>
            <a:br>
              <a:rPr lang="en-US" b="1" dirty="0"/>
            </a:br>
            <a:r>
              <a:rPr lang="en-US" b="1" dirty="0"/>
              <a:t>	</a:t>
            </a:r>
            <a:r>
              <a:rPr dirty="0"/>
              <a:t>Network Intrusion Detection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Intro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 sz="2000"/>
            </a:pPr>
            <a:r>
              <a:rPr lang="en-US" dirty="0"/>
              <a:t>Sentinel IDS is an AI-powered network intrusion detection system that uses a stacking ensemble classifier to identify network anomalies in real-time. The system is built on the UNSW-NB15 benchmark dataset</a:t>
            </a:r>
            <a:endParaRPr lang="en-IN" dirty="0"/>
          </a:p>
          <a:p>
            <a:pPr>
              <a:defRPr sz="2000"/>
            </a:pPr>
            <a:r>
              <a:rPr dirty="0"/>
              <a:t>Goal: classify network traffic as Normal or Attack</a:t>
            </a:r>
          </a:p>
          <a:p>
            <a:pPr>
              <a:defRPr sz="2000"/>
            </a:pPr>
            <a:r>
              <a:rPr dirty="0"/>
              <a:t>Dataset: UNSW-NB15 train and test split</a:t>
            </a:r>
          </a:p>
          <a:p>
            <a:pPr>
              <a:defRPr sz="2000"/>
            </a:pPr>
            <a:r>
              <a:rPr dirty="0"/>
              <a:t>System: Flask backend + React dashboard</a:t>
            </a:r>
          </a:p>
          <a:p>
            <a:pPr>
              <a:defRPr sz="2000"/>
            </a:pPr>
            <a:r>
              <a:rPr dirty="0"/>
              <a:t>Approach: stacked ensemble + probability calibration</a:t>
            </a:r>
          </a:p>
          <a:p>
            <a:pPr>
              <a:defRPr sz="2000"/>
            </a:pPr>
            <a:r>
              <a:rPr dirty="0"/>
              <a:t>Output: prediction, attack probability, threat level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Parameters The Model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" y="2247218"/>
            <a:ext cx="557784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 dirty="0"/>
              <a:t>Traffic and Packet Behavior</a:t>
            </a:r>
          </a:p>
          <a:p>
            <a:pPr>
              <a:defRPr sz="1400"/>
            </a:pPr>
            <a:r>
              <a:rPr dirty="0"/>
              <a:t>dur: connection duration</a:t>
            </a:r>
          </a:p>
          <a:p>
            <a:pPr>
              <a:defRPr sz="1400"/>
            </a:pPr>
            <a:r>
              <a:rPr dirty="0" err="1"/>
              <a:t>spkts</a:t>
            </a:r>
            <a:r>
              <a:rPr dirty="0"/>
              <a:t>, </a:t>
            </a:r>
            <a:r>
              <a:rPr dirty="0" err="1"/>
              <a:t>dpkts</a:t>
            </a:r>
            <a:r>
              <a:rPr dirty="0"/>
              <a:t>: packet counts</a:t>
            </a:r>
          </a:p>
          <a:p>
            <a:pPr>
              <a:defRPr sz="1400"/>
            </a:pPr>
            <a:r>
              <a:rPr dirty="0" err="1"/>
              <a:t>sbytes</a:t>
            </a:r>
            <a:r>
              <a:rPr dirty="0"/>
              <a:t>, </a:t>
            </a:r>
            <a:r>
              <a:rPr dirty="0" err="1"/>
              <a:t>dbytes</a:t>
            </a:r>
            <a:r>
              <a:rPr dirty="0"/>
              <a:t>: byte counts</a:t>
            </a:r>
          </a:p>
          <a:p>
            <a:pPr>
              <a:defRPr sz="1400"/>
            </a:pPr>
            <a:r>
              <a:rPr dirty="0"/>
              <a:t>rate: traffic rate</a:t>
            </a:r>
          </a:p>
          <a:p>
            <a:pPr>
              <a:defRPr sz="1400"/>
            </a:pPr>
            <a:r>
              <a:rPr dirty="0" err="1"/>
              <a:t>sinpkt</a:t>
            </a:r>
            <a:r>
              <a:rPr dirty="0"/>
              <a:t>, </a:t>
            </a:r>
            <a:r>
              <a:rPr dirty="0" err="1"/>
              <a:t>dinpkt</a:t>
            </a:r>
            <a:r>
              <a:rPr dirty="0"/>
              <a:t>: packet timing</a:t>
            </a:r>
          </a:p>
          <a:p>
            <a:pPr>
              <a:defRPr sz="1400"/>
            </a:pPr>
            <a:r>
              <a:rPr dirty="0" err="1"/>
              <a:t>sjit</a:t>
            </a:r>
            <a:r>
              <a:rPr dirty="0"/>
              <a:t>, </a:t>
            </a:r>
            <a:r>
              <a:rPr dirty="0" err="1"/>
              <a:t>djit</a:t>
            </a:r>
            <a:r>
              <a:rPr dirty="0"/>
              <a:t>: jitter</a:t>
            </a:r>
          </a:p>
          <a:p>
            <a:pPr>
              <a:defRPr sz="1400"/>
            </a:pPr>
            <a:r>
              <a:rPr dirty="0" err="1"/>
              <a:t>sttl</a:t>
            </a:r>
            <a:r>
              <a:rPr dirty="0"/>
              <a:t>, </a:t>
            </a:r>
            <a:r>
              <a:rPr dirty="0" err="1"/>
              <a:t>dttl</a:t>
            </a:r>
            <a:r>
              <a:rPr dirty="0"/>
              <a:t>: TTL values</a:t>
            </a:r>
          </a:p>
          <a:p>
            <a:pPr>
              <a:defRPr sz="1400"/>
            </a:pPr>
            <a:r>
              <a:rPr dirty="0" err="1"/>
              <a:t>sload</a:t>
            </a:r>
            <a:r>
              <a:rPr dirty="0"/>
              <a:t>, </a:t>
            </a:r>
            <a:r>
              <a:rPr dirty="0" err="1"/>
              <a:t>dload</a:t>
            </a:r>
            <a:r>
              <a:rPr dirty="0"/>
              <a:t>: traffic 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64024" y="2247218"/>
            <a:ext cx="557784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 dirty="0"/>
              <a:t>Protocol and Pattern Indicators</a:t>
            </a:r>
          </a:p>
          <a:p>
            <a:pPr>
              <a:defRPr sz="1400"/>
            </a:pPr>
            <a:r>
              <a:rPr dirty="0"/>
              <a:t>proto, service, state: protocol/service/state</a:t>
            </a:r>
          </a:p>
          <a:p>
            <a:pPr>
              <a:defRPr sz="1400"/>
            </a:pPr>
            <a:r>
              <a:rPr dirty="0" err="1"/>
              <a:t>tcprtt</a:t>
            </a:r>
            <a:r>
              <a:rPr dirty="0"/>
              <a:t>, </a:t>
            </a:r>
            <a:r>
              <a:rPr dirty="0" err="1"/>
              <a:t>synack</a:t>
            </a:r>
            <a:r>
              <a:rPr dirty="0"/>
              <a:t>, </a:t>
            </a:r>
            <a:r>
              <a:rPr dirty="0" err="1"/>
              <a:t>ackdat</a:t>
            </a:r>
            <a:r>
              <a:rPr dirty="0"/>
              <a:t>: TCP timing</a:t>
            </a:r>
          </a:p>
          <a:p>
            <a:pPr>
              <a:defRPr sz="1400"/>
            </a:pPr>
            <a:r>
              <a:rPr dirty="0" err="1"/>
              <a:t>ct_srv_src</a:t>
            </a:r>
            <a:r>
              <a:rPr dirty="0"/>
              <a:t>: repeated service from source</a:t>
            </a:r>
          </a:p>
          <a:p>
            <a:pPr>
              <a:defRPr sz="1400"/>
            </a:pPr>
            <a:r>
              <a:rPr dirty="0" err="1"/>
              <a:t>ct_dst_ltm</a:t>
            </a:r>
            <a:r>
              <a:rPr dirty="0"/>
              <a:t>: repeated destination access</a:t>
            </a:r>
          </a:p>
          <a:p>
            <a:pPr>
              <a:defRPr sz="1400"/>
            </a:pPr>
            <a:r>
              <a:rPr dirty="0" err="1"/>
              <a:t>ct_src_dport_ltm</a:t>
            </a:r>
            <a:r>
              <a:rPr dirty="0"/>
              <a:t>: repeated </a:t>
            </a:r>
            <a:r>
              <a:rPr dirty="0" err="1"/>
              <a:t>dst</a:t>
            </a:r>
            <a:r>
              <a:rPr dirty="0"/>
              <a:t> port from source</a:t>
            </a:r>
          </a:p>
          <a:p>
            <a:pPr>
              <a:defRPr sz="1400"/>
            </a:pPr>
            <a:r>
              <a:rPr dirty="0" err="1"/>
              <a:t>ct_flw_http_mthd</a:t>
            </a:r>
            <a:r>
              <a:rPr dirty="0"/>
              <a:t>: HTTP method count</a:t>
            </a:r>
          </a:p>
          <a:p>
            <a:pPr>
              <a:defRPr sz="1400"/>
            </a:pPr>
            <a:r>
              <a:rPr dirty="0" err="1"/>
              <a:t>is_ftp_login</a:t>
            </a:r>
            <a:r>
              <a:rPr dirty="0"/>
              <a:t>: FTP login indicator</a:t>
            </a:r>
          </a:p>
          <a:p>
            <a:pPr>
              <a:defRPr sz="1400"/>
            </a:pPr>
            <a:r>
              <a:rPr dirty="0" err="1"/>
              <a:t>is_sm_ips_ports</a:t>
            </a:r>
            <a:r>
              <a:rPr dirty="0"/>
              <a:t>: </a:t>
            </a:r>
            <a:r>
              <a:rPr dirty="0" err="1"/>
              <a:t>src</a:t>
            </a:r>
            <a:r>
              <a:rPr dirty="0"/>
              <a:t>/</a:t>
            </a:r>
            <a:r>
              <a:rPr dirty="0" err="1"/>
              <a:t>dst</a:t>
            </a:r>
            <a:r>
              <a:rPr dirty="0"/>
              <a:t> same IP-port pattern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Models and Ensemble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130552"/>
            <a:ext cx="7290055" cy="4023360"/>
          </a:xfrm>
        </p:spPr>
        <p:txBody>
          <a:bodyPr/>
          <a:lstStyle/>
          <a:p>
            <a:r>
              <a:rPr lang="en-US" b="1" dirty="0"/>
              <a:t>Level-0 Input</a:t>
            </a:r>
          </a:p>
          <a:p>
            <a:r>
              <a:rPr lang="en-US" dirty="0"/>
              <a:t>42 UNSW-NB15 features as raw inputs.</a:t>
            </a:r>
            <a:endParaRPr lang="en-US" b="1" dirty="0"/>
          </a:p>
          <a:p>
            <a:r>
              <a:rPr lang="en-US" b="1" dirty="0"/>
              <a:t>Level-1 Base Models</a:t>
            </a:r>
          </a:p>
          <a:p>
            <a:r>
              <a:rPr lang="en-US" dirty="0"/>
              <a:t>RF, </a:t>
            </a:r>
            <a:r>
              <a:rPr lang="en-US" dirty="0" err="1"/>
              <a:t>XGBoost</a:t>
            </a:r>
            <a:r>
              <a:rPr lang="en-US" dirty="0"/>
              <a:t>, </a:t>
            </a:r>
            <a:r>
              <a:rPr lang="en-US" dirty="0" err="1"/>
              <a:t>LightGBM</a:t>
            </a:r>
            <a:r>
              <a:rPr lang="en-US" dirty="0"/>
              <a:t>, Extra Trees, MLP produce OOF preds.</a:t>
            </a:r>
          </a:p>
          <a:p>
            <a:pPr>
              <a:defRPr sz="2000"/>
            </a:pPr>
            <a:r>
              <a:rPr dirty="0"/>
              <a:t>Each base model outputs attack probability</a:t>
            </a:r>
            <a:endParaRPr lang="en-US" dirty="0"/>
          </a:p>
          <a:p>
            <a:r>
              <a:rPr lang="en-US" b="1" dirty="0"/>
              <a:t>Level-2 Meta-Learner</a:t>
            </a:r>
          </a:p>
          <a:p>
            <a:r>
              <a:rPr lang="en-US" dirty="0"/>
              <a:t>Logistic Regression trained on OOF features</a:t>
            </a:r>
          </a:p>
          <a:p>
            <a:r>
              <a:rPr lang="en-US" b="1" dirty="0"/>
              <a:t>Calibrated Output</a:t>
            </a:r>
          </a:p>
          <a:p>
            <a:r>
              <a:rPr lang="en-US" dirty="0"/>
              <a:t>Final calibrated threat probability score.</a:t>
            </a:r>
          </a:p>
          <a:p>
            <a:endParaRPr lang="en-US" dirty="0"/>
          </a:p>
          <a:p>
            <a:pPr>
              <a:defRPr sz="2000"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825" y="201168"/>
            <a:ext cx="7290054" cy="1499616"/>
          </a:xfrm>
        </p:spPr>
        <p:txBody>
          <a:bodyPr/>
          <a:lstStyle/>
          <a:p>
            <a:r>
              <a:rPr dirty="0"/>
              <a:t>Test Metrics (Individual + Ensemble)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0048635"/>
              </p:ext>
            </p:extLst>
          </p:nvPr>
        </p:nvGraphicFramePr>
        <p:xfrm>
          <a:off x="146304" y="1627632"/>
          <a:ext cx="875995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9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9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9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9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99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599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rPr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ROC-AUC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0.8983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0.9905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0.8588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0.9864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dirty="0" err="1"/>
                        <a:t>XGBoost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0.8991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0.9889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0.8614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0.9208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dirty="0"/>
                        <a:t>0.9864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LightGBM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0.8996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0.9888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0.8622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0.9212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0.9861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Extra Trees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dirty="0"/>
                        <a:t>0.8907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0.9774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dirty="0"/>
                        <a:t>0.8592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0.9843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0.8893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0.9849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0.8504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0.9127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0.9788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Ensemble Raw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0.9887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0.8647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0.9226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0.9874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Ensemble Calibrated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0.9887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0.8647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0.9226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dirty="0"/>
                        <a:t>0.9874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8229600" cy="1143000"/>
          </a:xfrm>
        </p:spPr>
        <p:txBody>
          <a:bodyPr/>
          <a:lstStyle/>
          <a:p>
            <a:r>
              <a:rPr dirty="0"/>
              <a:t>Confusion Matrix Overview</a:t>
            </a:r>
          </a:p>
        </p:txBody>
      </p:sp>
      <p:pic>
        <p:nvPicPr>
          <p:cNvPr id="3" name="Picture 2" descr="confusion_matrices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52" y="1097280"/>
            <a:ext cx="8921496" cy="535289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2179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Model-wise confusion matrices on UNSW test set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5024" y="0"/>
            <a:ext cx="7290054" cy="1499616"/>
          </a:xfrm>
        </p:spPr>
        <p:txBody>
          <a:bodyPr/>
          <a:lstStyle/>
          <a:p>
            <a:r>
              <a:rPr dirty="0"/>
              <a:t>ROC Curve Comparison</a:t>
            </a:r>
          </a:p>
        </p:txBody>
      </p:sp>
      <p:pic>
        <p:nvPicPr>
          <p:cNvPr id="3" name="Picture 2" descr="roc_curves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758" y="1095756"/>
            <a:ext cx="7894320" cy="55260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2179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AUC comparison across models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dirty="0"/>
              <a:t>Calibration Curve</a:t>
            </a:r>
          </a:p>
        </p:txBody>
      </p:sp>
      <p:pic>
        <p:nvPicPr>
          <p:cNvPr id="3" name="Picture 2" descr="ensemble_calibration_curve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1386840"/>
            <a:ext cx="7172960" cy="5379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" y="640080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rPr dirty="0"/>
              <a:t>Predicted probabilities vs observed outcomes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All individual models are working and contribute to final output</a:t>
            </a:r>
          </a:p>
          <a:p>
            <a:pPr>
              <a:defRPr sz="2000"/>
            </a:pPr>
            <a:r>
              <a:rPr dirty="0"/>
              <a:t>Ensemble improves stability and overall performance</a:t>
            </a:r>
          </a:p>
          <a:p>
            <a:pPr>
              <a:defRPr sz="2000"/>
            </a:pPr>
            <a:r>
              <a:rPr dirty="0"/>
              <a:t>Ensemble test accuracy: 0.9012</a:t>
            </a:r>
          </a:p>
          <a:p>
            <a:pPr>
              <a:defRPr sz="2000"/>
            </a:pPr>
            <a:r>
              <a:rPr dirty="0"/>
              <a:t>Model is ready for demonstration with live dashboard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19</TotalTime>
  <Words>386</Words>
  <Application>Microsoft Office PowerPoint</Application>
  <PresentationFormat>On-screen Show (4:3)</PresentationFormat>
  <Paragraphs>97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Ion Boardroom</vt:lpstr>
      <vt:lpstr> Sentinel IDS  Network Intrusion Detection System</vt:lpstr>
      <vt:lpstr>Project Intro</vt:lpstr>
      <vt:lpstr>Key Parameters The Model Checks</vt:lpstr>
      <vt:lpstr>Models and Ensemble</vt:lpstr>
      <vt:lpstr>Test Metrics (Individual + Ensemble)</vt:lpstr>
      <vt:lpstr>Confusion Matrix Overview</vt:lpstr>
      <vt:lpstr>ROC Curve Comparison</vt:lpstr>
      <vt:lpstr>Calibration Curve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SYED SIBGHATULLAH</cp:lastModifiedBy>
  <cp:revision>6</cp:revision>
  <dcterms:created xsi:type="dcterms:W3CDTF">2013-01-27T09:14:16Z</dcterms:created>
  <dcterms:modified xsi:type="dcterms:W3CDTF">2026-06-26T20:11:31Z</dcterms:modified>
  <cp:category/>
</cp:coreProperties>
</file>